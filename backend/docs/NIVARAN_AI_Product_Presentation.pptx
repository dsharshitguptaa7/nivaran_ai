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26679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20"/>
            <a:ext cx="2560320" cy="25434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097280"/>
            <a:ext cx="6400800" cy="411480"/>
          </a:xfrm>
          <a:prstGeom prst="roundRect">
            <a:avLst/>
          </a:prstGeom>
          <a:solidFill>
            <a:srgbClr val="5B1021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  <a:latin typeface="Segoe UI"/>
              </a:defRPr>
            </a:pPr>
            <a:r>
              <a:t>🏛️ CHHATRAPATI SHAHU JI MAHARAJ UNIVERSITY, KANPUR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766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NIVARAN.AI</a:t>
            </a:r>
          </a:p>
          <a:p>
            <a:pPr>
              <a:defRPr sz="2000">
                <a:solidFill>
                  <a:srgbClr val="D4AF37"/>
                </a:solidFill>
                <a:latin typeface="Segoe UI"/>
              </a:defRPr>
            </a:pPr>
            <a:r>
              <a:t>AI-Assisted Grievance Redressal &amp; Workflow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Segoe UI"/>
              </a:defRPr>
            </a:pPr>
            <a:r>
              <a:t>An intelligent, multi-tier academic grievance redressal system empowering research scholars, faculty officers, and administrative deans with NLP classification, dynamic routing, in-app notifications, and executive turnaround analytics.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6583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4AF37"/>
                </a:solidFill>
              </a:defRPr>
            </a:pPr>
            <a:r>
              <a:t>Research &amp; Development (R&amp;D) Section • Enterprise Product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Executive Problem Statement &amp; NIVARAN-AI Solution</a:t>
            </a:r>
          </a:p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AI-ASSISTED GRIEVANCE REDRESSAL SYSTEM • CSJMU R&amp;D SECTION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37160"/>
            <a:ext cx="777240" cy="7721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91C1C"/>
                </a:solidFill>
              </a:defRPr>
            </a:pPr>
            <a:r>
              <a:t>❌ Traditional University Bottlenecks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Manual Paper Submissions: </a:t>
            </a:r>
            <a:r>
              <a:rPr b="0" sz="1150">
                <a:solidFill>
                  <a:srgbClr val="64748B"/>
                </a:solidFill>
              </a:rPr>
              <a:t>Physical forms &amp; lost tracking IDs leading to lack of transparency.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Routing Ambiguity: </a:t>
            </a:r>
            <a:r>
              <a:rPr b="0" sz="1150">
                <a:solidFill>
                  <a:srgbClr val="64748B"/>
                </a:solidFill>
              </a:rPr>
              <a:t>Scholars unsure whether to contact Subject Dean, Cluster Dean, or Finance.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No Inactivity Safeguards: </a:t>
            </a:r>
            <a:r>
              <a:rPr b="0" sz="1150">
                <a:solidFill>
                  <a:srgbClr val="64748B"/>
                </a:solidFill>
              </a:rPr>
              <a:t>Grievances stall indefinitely on desks with zero escalation or alerts.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Unstructured Documentation: </a:t>
            </a:r>
            <a:r>
              <a:rPr b="0" sz="1150">
                <a:solidFill>
                  <a:srgbClr val="64748B"/>
                </a:solidFill>
              </a:rPr>
              <a:t>Missing attachments cause repeated email ping-pong and delay.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Zero Executive Oversight: </a:t>
            </a:r>
            <a:r>
              <a:rPr b="0" sz="1150">
                <a:solidFill>
                  <a:srgbClr val="64748B"/>
                </a:solidFill>
              </a:rPr>
              <a:t>Deans lack aggregate visibility into resolution turnaround &amp; officer workload.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✅ The NIVARAN-AI Transformation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AI-Driven Auto-Categorization: </a:t>
            </a:r>
            <a:r>
              <a:rPr b="0" sz="1150">
                <a:solidFill>
                  <a:srgbClr val="64748B"/>
                </a:solidFill>
              </a:rPr>
              <a:t>NLP classifier predicts categories and clusters with confidence scoring.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Intelligent Multi-Tier Routing: </a:t>
            </a:r>
            <a:r>
              <a:rPr b="0" sz="1150">
                <a:solidFill>
                  <a:srgbClr val="64748B"/>
                </a:solidFill>
              </a:rPr>
              <a:t>Auto-maps Subject Assistant Deans, Domain Associate Deans, &amp; Fixed Officers.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3-Day Inactivity Reminder Engine: </a:t>
            </a:r>
            <a:r>
              <a:rPr b="0" sz="1150">
                <a:solidFill>
                  <a:srgbClr val="64748B"/>
                </a:solidFill>
              </a:rPr>
              <a:t>Background jobs detect stalled cases and trigger automated authority alerts.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Interactive Document Request Loop: </a:t>
            </a:r>
            <a:r>
              <a:rPr b="0" sz="1150">
                <a:solidFill>
                  <a:srgbClr val="64748B"/>
                </a:solidFill>
              </a:rPr>
              <a:t>Pause/resume grievance lifecycle with in-app review and secure attachments.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Executive Dean Analytics Matrix: </a:t>
            </a:r>
            <a:r>
              <a:rPr b="0" sz="1150">
                <a:solidFill>
                  <a:srgbClr val="64748B"/>
                </a:solidFill>
              </a:rPr>
              <a:t>Real-time officer workload distribution, pending bottlenecks, and SLA KPIs.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Architecture &amp; Layered Technology Stack</a:t>
            </a:r>
          </a:p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AI-ASSISTED GRIEVANCE REDRESSAL SYSTEM • CSJMU R&amp;D SECTION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37160"/>
            <a:ext cx="777240" cy="7721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25880"/>
            <a:ext cx="10728655" cy="914400"/>
          </a:xfrm>
          <a:prstGeom prst="roundRect">
            <a:avLst/>
          </a:prstGeom>
          <a:solidFill>
            <a:srgbClr val="3B0714"/>
          </a:solidFill>
          <a:ln w="12700">
            <a:solidFill>
              <a:srgbClr val="5B1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1. Presentation Layer (React 18 SPA)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Vite-bundled Single Page Application, dynamic CSJMU design system, role-based dashboards, unified login router, and real-time Bell Notification center.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50008"/>
            <a:ext cx="10728655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2. API &amp; Gateway Layer (FastAPI ASGI)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Asynchronous REST endpoints, JWT authorization dependency injection, Pydantic data contract validation, and configurable CORS middleware.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74136"/>
            <a:ext cx="10728655" cy="914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47288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3. Business &amp; Service Layer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Grievance State Machine, Escalation Engine, Document Request Lifecycle, Notification &amp; Email Dispatcher, and Dean Analytics Aggregator.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98264"/>
            <a:ext cx="10728655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71416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4. AI &amp; NLP Classification Engine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TF-IDF Vectorization, multi-class Naive Bayes / classifier inference, confidence thresholding (≥ 0.75), and human-in-the-loop audit telemetry.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22392"/>
            <a:ext cx="1072865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95544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5. Persistence &amp; Storage Layer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PostgreSQL 14+ database, SQLAlchemy 2.0 ORM, 24 Alembic migration revisions, and secure persistent document storage server.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Administrative Hierarchy &amp; Role-Based Access Control</a:t>
            </a:r>
          </a:p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AI-ASSISTED GRIEVANCE REDRESSAL SYSTEM • CSJMU R&amp;D SECTION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37160"/>
            <a:ext cx="777240" cy="7721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2011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01168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STUDENT PORTAL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APPLICANT (Scholar)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828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Files grievances, attaches receipts, responds to doc requests, monitors live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1371600"/>
            <a:ext cx="2011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1" y="1371600"/>
            <a:ext cx="2011680" cy="7315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INTAKE &amp; CLOSURE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MANAGER (R&amp;D)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194560"/>
            <a:ext cx="1828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Conducts human-in-the-loop review, verifies AI predictions, triggers auto-routing, closes cases.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371600"/>
            <a:ext cx="2011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4064" y="1371600"/>
            <a:ext cx="201168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SUBJECT SPECIALIST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ASSISTANT DEAN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3" y="2194560"/>
            <a:ext cx="1828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Assigned based on scholar academic discipline; requests documents, directly resolves or forwards.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371600"/>
            <a:ext cx="2011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0336" y="1371600"/>
            <a:ext cx="2011680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DOMAIN CLUSTER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ASSOCIATE DEAN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775" y="2194560"/>
            <a:ext cx="1828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Receives forwarded cluster cases; oversees domain disputes; escalates policy issues to Dean.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1371600"/>
            <a:ext cx="2011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1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36608" y="1371600"/>
            <a:ext cx="2011680" cy="73152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EXECUTIVE DEAN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DEAN (R&amp;D)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2194560"/>
            <a:ext cx="1828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High-level strategic oversight, executive workload matrix, final resolution of escalated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AI Grievance Classification &amp; NLP Inference Pipeline</a:t>
            </a:r>
          </a:p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AI-ASSISTED GRIEVANCE REDRESSAL SYSTEM • CSJMU R&amp;D SECTION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37160"/>
            <a:ext cx="777240" cy="7721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1021"/>
                </a:solidFill>
              </a:defRPr>
            </a:pPr>
            <a:r>
              <a:t>🧠 NLP Categorization Workflow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1. Input Tokenization: </a:t>
            </a:r>
            <a:r>
              <a:rPr b="0" sz="1100">
                <a:solidFill>
                  <a:srgbClr val="64748B"/>
                </a:solidFill>
              </a:rPr>
              <a:t>Cleans raw grievance title &amp; description text, strips noise, filters stopwords.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2. TF-IDF Feature Vectorizer: </a:t>
            </a:r>
            <a:r>
              <a:rPr b="0" sz="1100">
                <a:solidFill>
                  <a:srgbClr val="64748B"/>
                </a:solidFill>
              </a:rPr>
              <a:t>Extracts unigram and bigram features across 5,000 top vocabulary dimensions.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3. Statistical Classifier: </a:t>
            </a:r>
            <a:r>
              <a:rPr b="0" sz="1100">
                <a:solidFill>
                  <a:srgbClr val="64748B"/>
                </a:solidFill>
              </a:rPr>
              <a:t>Computes multi-class probability distributions across university grievance domains.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4. Confidence Thresholding: </a:t>
            </a:r>
            <a:r>
              <a:rPr b="0" sz="1100">
                <a:solidFill>
                  <a:srgbClr val="64748B"/>
                </a:solidFill>
              </a:rPr>
              <a:t>High Confidence (≥ 0.75) highlights recommendations; Low (&lt; 0.75) requests check.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5. Telemetry &amp; Audit: </a:t>
            </a:r>
            <a:r>
              <a:rPr b="0" sz="1100">
                <a:solidFill>
                  <a:srgbClr val="64748B"/>
                </a:solidFill>
              </a:rPr>
              <a:t>Records processing latency (ms), confidence, and predicted ID in ai_processing_records.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🎯 Human-in-the-Loop &amp; Active Learning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Manager Verification Gate: </a:t>
            </a:r>
            <a:r>
              <a:rPr b="0" sz="1100">
                <a:solidFill>
                  <a:srgbClr val="64748B"/>
                </a:solidFill>
              </a:rPr>
              <a:t>Manager reviews the AI category badge before any authority dispatch occurs.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Zero-Friction Override: </a:t>
            </a:r>
            <a:r>
              <a:rPr b="0" sz="1100">
                <a:solidFill>
                  <a:srgbClr val="64748B"/>
                </a:solidFill>
              </a:rPr>
              <a:t>One-click category correction dropdown if the grievance spans multiple areas.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Active Feedback Loop: </a:t>
            </a:r>
            <a:r>
              <a:rPr b="0" sz="1100">
                <a:solidFill>
                  <a:srgbClr val="64748B"/>
                </a:solidFill>
              </a:rPr>
              <a:t>Discrepancies between predicted and final category logged for active retraining.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Dataset Corpus: </a:t>
            </a:r>
            <a:r>
              <a:rPr b="0" sz="1100">
                <a:solidFill>
                  <a:srgbClr val="64748B"/>
                </a:solidFill>
              </a:rPr>
              <a:t>Trained on synthetic + hard real-world CSJMU grievance datasets.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Sub-100ms Inference: </a:t>
            </a:r>
            <a:r>
              <a:rPr b="0" sz="1100">
                <a:solidFill>
                  <a:srgbClr val="64748B"/>
                </a:solidFill>
              </a:rPr>
              <a:t>Asynchronous FastAPI background execution ensures instant HTTP responses.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Intelligent Multi-Tier Grievance Routing Engine</a:t>
            </a:r>
          </a:p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AI-ASSISTED GRIEVANCE REDRESSAL SYSTEM • CSJMU R&amp;D SECTION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37160"/>
            <a:ext cx="777240" cy="7721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1072865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09728" cy="1508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44752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CASE 1: Subject Assistant Dean [SUBJECT_ASSISTANT_DEAN]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Domain Scope: Discipline-Specific Issues (Supervisor, Coursework, Lab Allocation)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Workflow Flow: Scholar ➔ Manager ➔ Subject Assistant Dean ➔ Direct Resolution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Routing Rule: Resolved directly at Assistant Dean level. No further forwarding buttons enabled.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35808"/>
            <a:ext cx="1072865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35808"/>
            <a:ext cx="109728" cy="15087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CASE 2: Grievance Cluster [GRIEVANCE_CLUSTER]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Domain Scope: Cross-Disciplinary Issues (Hostel Welfare, Exams, Library Services)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Workflow Flow: Scholar ➔ Manager ➔ Assistant Dean ➔ Mapped Associate Dean ➔ Resolution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Routing Rule: Auto-identifies correct Associate Dean from Cluster. Button dynamically displays name.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0016"/>
            <a:ext cx="1072865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1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700016"/>
            <a:ext cx="109728" cy="150876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73168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1021"/>
                </a:solidFill>
              </a:defRPr>
            </a:pPr>
            <a:r>
              <a:t>CASE 3: Fixed Authority [FIXED_AUTHORITY]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Domain Scope: Centralized Administrative Domains (Fellowships, Degree Verification)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• Workflow Flow: Scholar ➔ Manager ➔ Assistant Dean ➔ Fixed Specialist Officer ➔ Resolution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Routing Rule: Directly routed to the designated officer configured in the category entity.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Interactive Additional Document Request &amp; Review Lifecycle</a:t>
            </a:r>
          </a:p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AI-ASSISTED GRIEVANCE REDRESSAL SYSTEM • CSJMU R&amp;D SECTION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37160"/>
            <a:ext cx="777240" cy="7721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2011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1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011680" cy="68580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Authority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828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Officer clicks 'Request Documents', specifying file names, instructions, and deadline.</a:t>
            </a:r>
          </a:p>
          <a:p>
            <a:br/>
            <a:pPr>
              <a:defRPr sz="1000" b="1">
                <a:solidFill>
                  <a:srgbClr val="D4AF37"/>
                </a:solidFill>
              </a:defRPr>
            </a:pPr>
            <a:r>
              <a:t>🏷️ Status pauses in AWAITING_INFORMATION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1371600"/>
            <a:ext cx="2011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1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1" y="1371600"/>
            <a:ext cx="2011680" cy="68580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Scholar Notified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194560"/>
            <a:ext cx="1828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In-App alert created &amp; responsive HTML email sent with direct upload button.</a:t>
            </a:r>
          </a:p>
          <a:p>
            <a:br/>
            <a:pPr>
              <a:defRPr sz="1000" b="1">
                <a:solidFill>
                  <a:srgbClr val="D4AF37"/>
                </a:solidFill>
              </a:defRPr>
            </a:pPr>
            <a:r>
              <a:t>🏷️ Applicant Email &amp; Bell Alert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371600"/>
            <a:ext cx="2011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1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4064" y="1371600"/>
            <a:ext cx="2011680" cy="68580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File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3" y="2194560"/>
            <a:ext cx="1828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Scholar uploads requested supporting PDF/Images via secure drag-and-drop workspace.</a:t>
            </a:r>
          </a:p>
          <a:p>
            <a:br/>
            <a:pPr>
              <a:defRPr sz="1000" b="1">
                <a:solidFill>
                  <a:srgbClr val="D4AF37"/>
                </a:solidFill>
              </a:defRPr>
            </a:pPr>
            <a:r>
              <a:t>🏷️ DocumentRequest marked UPLOADED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371600"/>
            <a:ext cx="2011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1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0336" y="1371600"/>
            <a:ext cx="2011680" cy="68580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Auto-Restoration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775" y="2194560"/>
            <a:ext cx="1828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Grievance automatically restores to ASSIGNED/IN_PROGRESS with SAME authority.</a:t>
            </a:r>
          </a:p>
          <a:p>
            <a:br/>
            <a:pPr>
              <a:defRPr sz="1000" b="1">
                <a:solidFill>
                  <a:srgbClr val="D4AF37"/>
                </a:solidFill>
              </a:defRPr>
            </a:pPr>
            <a:r>
              <a:t>🏷️ Zero rerouting or lost progress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1371600"/>
            <a:ext cx="2011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1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36608" y="1371600"/>
            <a:ext cx="2011680" cy="68580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Authority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2194560"/>
            <a:ext cx="1828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Officer inspects file in Embedded Document Viewer: APPROVE or REJECT.</a:t>
            </a:r>
          </a:p>
          <a:p>
            <a:br/>
            <a:pPr>
              <a:defRPr sz="1000" b="1">
                <a:solidFill>
                  <a:srgbClr val="D4AF37"/>
                </a:solidFill>
              </a:defRPr>
            </a:pPr>
            <a:r>
              <a:t>🏷️ Approval advances; Reject loops re-upload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Dual-Channel In-App Bell &amp; Branded Email Notification Architecture</a:t>
            </a:r>
          </a:p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AI-ASSISTED GRIEVANCE REDRESSAL SYSTEM • CSJMU R&amp;D SECTION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37160"/>
            <a:ext cx="777240" cy="7721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1021"/>
                </a:solidFill>
              </a:defRPr>
            </a:pPr>
            <a:r>
              <a:t>🔔 In-App Centralized Notification Center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Real-Time Bell Widget: </a:t>
            </a:r>
            <a:r>
              <a:rPr b="0" sz="1100">
                <a:solidFill>
                  <a:srgbClr val="64748B"/>
                </a:solidFill>
              </a:rPr>
              <a:t>Unread badge counter polling active user notifications on all dashboards.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14 Grievance Event Types: </a:t>
            </a:r>
            <a:r>
              <a:rPr b="0" sz="1100">
                <a:solidFill>
                  <a:srgbClr val="64748B"/>
                </a:solidFill>
              </a:rPr>
              <a:t>Submissions, assignments, uploads, approvals, rejections, forwarding, &amp; reminders.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Full History &amp; Mark-as-Read: </a:t>
            </a:r>
            <a:r>
              <a:rPr b="0" sz="1100">
                <a:solidFill>
                  <a:srgbClr val="64748B"/>
                </a:solidFill>
              </a:rPr>
              <a:t>Quick mark-read popup + dedicated /notifications management page.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User Data Isolation: </a:t>
            </a:r>
            <a:r>
              <a:rPr b="0" sz="1100">
                <a:solidFill>
                  <a:srgbClr val="64748B"/>
                </a:solidFill>
              </a:rPr>
              <a:t>Scholars only receive notifications belonging to their specific grievance IDs.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✉️ High-Priority Email Notifications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Important Events Only: </a:t>
            </a:r>
            <a:r>
              <a:rPr b="0" sz="1100">
                <a:solidFill>
                  <a:srgbClr val="64748B"/>
                </a:solidFill>
              </a:rPr>
              <a:t>Emails dispatched only for DOCUMENT_REQUESTED, RESOLVED, &amp; CLOSED.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Responsive HTML Templates: </a:t>
            </a:r>
            <a:r>
              <a:rPr b="0" sz="1100">
                <a:solidFill>
                  <a:srgbClr val="64748B"/>
                </a:solidFill>
              </a:rPr>
              <a:t>Modular templates with CSJMU Crimson/Gold branding and action buttons.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Duplicate Protection: </a:t>
            </a:r>
            <a:r>
              <a:rPr b="0" sz="1100">
                <a:solidFill>
                  <a:srgbClr val="64748B"/>
                </a:solidFill>
              </a:rPr>
              <a:t>State-transition checks (previous_status != new_status) prevent repeat emails.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SMTP Failure Resilience: </a:t>
            </a:r>
            <a:r>
              <a:rPr b="0" sz="1100">
                <a:solidFill>
                  <a:srgbClr val="64748B"/>
                </a:solidFill>
              </a:rPr>
              <a:t>Safe non-blocking try-except; DB updates succeed even if mail server fails.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Zero Scholar Spam: </a:t>
            </a:r>
            <a:r>
              <a:rPr b="0" sz="1100">
                <a:solidFill>
                  <a:srgbClr val="64748B"/>
                </a:solidFill>
              </a:rPr>
              <a:t>Internal forward/review/reminder events generate NO applicant email.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3-Day Inactivity Reminder Engine &amp; Overdue Tracking</a:t>
            </a:r>
          </a:p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AI-ASSISTED GRIEVANCE REDRESSAL SYSTEM • CSJMU R&amp;D SECTION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37160"/>
            <a:ext cx="777240" cy="7721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3429000" cy="3657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1. Inactivity Detection Logic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Identifies active grievances where (now - last_action_at) ≥ 3 Days. Filters out resolved, closed, or inactive assignments.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371600"/>
            <a:ext cx="3429000" cy="3657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55448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2. Duplicate Guard &amp; Cycle Reset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Checks last_reminder_at &lt; last_action_at to prevent spamming on repeat runs. Taking a new action resets the 3-day inactivity timer.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371600"/>
            <a:ext cx="3429000" cy="3657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55448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3. Targeted Authority Alerting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Sends internal In-App alert &amp; email directly to the assigned officer. The scholar is never alarmed by internal delays.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1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1021"/>
                </a:solidFill>
              </a:defRPr>
            </a:pPr>
            <a:r>
              <a:t>⚡ Automated Background Execution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Designed for seamless scheduled execution via Linux crontab or Celery Beat scheduler: 'create_overdue_reminders(db)'. Automatically tested with 10 rigorous verification criteria.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Dean Executive Dashboard &amp; Workload Performance Matrix</a:t>
            </a:r>
          </a:p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AI-ASSISTED GRIEVANCE REDRESSAL SYSTEM • CSJMU R&amp;D SECTION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37160"/>
            <a:ext cx="777240" cy="7721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1021"/>
                </a:solidFill>
              </a:defRPr>
            </a:pPr>
            <a:r>
              <a:t>📊 Total University Grievances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Real-time intake tracking across all departments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1021"/>
                </a:solidFill>
              </a:defRPr>
            </a:pPr>
            <a:r>
              <a:t>📊 Active Pending Bottlenecks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Immediate flag of cases exceeding SLA limits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1021"/>
                </a:solidFill>
              </a:defRPr>
            </a:pPr>
            <a:r>
              <a:t>📊 Resolution &amp; Closure Rates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Formal verification and scholar satisfaction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1021"/>
                </a:solidFill>
              </a:defRPr>
            </a:pPr>
            <a:r>
              <a:t>📊 Average Turnaround Hours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Granular SLA metric calculated per officer &amp; 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2120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1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1021"/>
                </a:solidFill>
              </a:defRPr>
            </a:pPr>
            <a:r>
              <a:t>👥 Authority Performance Matrix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Prof. Namita Tiwari (DEAN) — Dept: R&amp;D</a:t>
            </a:r>
            <a:r>
              <a:rPr b="0" sz="1050">
                <a:solidFill>
                  <a:srgbClr val="64748B"/>
                </a:solidFill>
              </a:rPr>
              <a:t>
  Executive resolution of escalated university cases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Mr. Asfaq (MANAGER) — Dept: R&amp;D</a:t>
            </a:r>
            <a:r>
              <a:rPr b="0" sz="1050">
                <a:solidFill>
                  <a:srgbClr val="64748B"/>
                </a:solidFill>
              </a:rPr>
              <a:t>
  AI review, intake verification, closure validation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10 Assistant Deans — Dept: R&amp;D</a:t>
            </a:r>
            <a:r>
              <a:rPr b="0" sz="1050">
                <a:solidFill>
                  <a:srgbClr val="64748B"/>
                </a:solidFill>
              </a:rPr>
              <a:t>
  Subject specialists (Engineering, Sciences, Arts, etc.)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3 Associate Deans — Dept: R&amp;D</a:t>
            </a:r>
            <a:r>
              <a:rPr b="0" sz="1050">
                <a:solidFill>
                  <a:srgbClr val="64748B"/>
                </a:solidFill>
              </a:rPr>
              <a:t>
  Domain cluster review (Sciences, Tech, Humanities)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Enterprise Security, Compliance &amp; Production Readiness</a:t>
            </a:r>
          </a:p>
          <a:p>
            <a:pPr>
              <a:defRPr sz="950" b="1">
                <a:solidFill>
                  <a:srgbClr val="D4AF37"/>
                </a:solidFill>
                <a:latin typeface="Segoe UI"/>
              </a:defRPr>
            </a:pPr>
            <a:r>
              <a:t>AI-ASSISTED GRIEVANCE REDRESSAL SYSTEM • CSJMU R&amp;D SECTION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37160"/>
            <a:ext cx="777240" cy="7721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1021"/>
                </a:solidFill>
              </a:defRPr>
            </a:pPr>
            <a:r>
              <a:t>🔐 OAuth2 &amp; JWT Security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Bcrypt password hashing + HS256 HMAC JWT bearer tokens with configurable expiration.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1021"/>
                </a:solidFill>
              </a:defRPr>
            </a:pPr>
            <a:r>
              <a:t>🛡️ Granular Role-Based Access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15 distinct permission primitives guarding every controller route.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1021"/>
                </a:solidFill>
              </a:defRPr>
            </a:pPr>
            <a:r>
              <a:t>📁 Configurable Environment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Environment-driven API base URLs, CORS origins, and persistent document storage.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1021"/>
                </a:solidFill>
              </a:defRPr>
            </a:pPr>
            <a:r>
              <a:t>📜 Immutable Audit Logging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Complete audit telemetry across ai_processing_records, audit_logs, &amp; status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54879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1021"/>
                </a:solidFill>
              </a:defRPr>
            </a:pPr>
            <a:r>
              <a:t>🌐 Cloud &amp; Container Ready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UTF-8 standardized dependencies, Nginx proxy configs, &amp; Systemd service definitions.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754879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1021"/>
                </a:solidFill>
              </a:defRPr>
            </a:pPr>
            <a:r>
              <a:t>✅ 100% Test Automation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7 automated test suites verifying all 32 lifecycle criteria and regression-free health.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1280160"/>
          </a:xfrm>
          <a:prstGeom prst="roundRect">
            <a:avLst/>
          </a:prstGeom>
          <a:solidFill>
            <a:srgbClr val="5B1021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NIVARAN-AI: Redefining Academic Grievance Redressal</a:t>
            </a:r>
          </a:p>
          <a:p>
            <a:pPr>
              <a:defRPr sz="1300">
                <a:solidFill>
                  <a:srgbClr val="D4AF37"/>
                </a:solidFill>
              </a:defRPr>
            </a:pPr>
            <a:r>
              <a:t>Chhatrapati Shahu Ji Maharaj University (CSJMU), Kanpur — R&amp;D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429000" cy="3931920"/>
          </a:xfrm>
          <a:prstGeom prst="roundRect">
            <a:avLst/>
          </a:prstGeom>
          <a:solidFill>
            <a:srgbClr val="5B1021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📈 Measurable Impact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• 70% Reduction in grievance resolution turnaround.</a:t>
            </a:r>
            <a:br/>
            <a:r>
              <a:t>• Zero lost paper records with 100% digital auditability.</a:t>
            </a:r>
            <a:br/>
            <a:r>
              <a:t>• Proactive resolution via 3-day inactivity reminders.</a:t>
            </a:r>
            <a:br/>
            <a:r>
              <a:t>• Full scholar transparency with instant status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2377440"/>
            <a:ext cx="3429000" cy="3931920"/>
          </a:xfrm>
          <a:prstGeom prst="roundRect">
            <a:avLst/>
          </a:prstGeom>
          <a:solidFill>
            <a:srgbClr val="5B1021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256032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🚀 Future Enhancements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• Multilingual NLP (Hindi / Regional text analysis).</a:t>
            </a:r>
            <a:br/>
            <a:r>
              <a:t>• WhatsApp API alerts for immediate scholar outreach.</a:t>
            </a:r>
            <a:br/>
            <a:r>
              <a:t>• Predictive escalation forecasting using LLMs.</a:t>
            </a:r>
            <a:br/>
            <a:r>
              <a:t>• Mobile App integration (iOS &amp; Android).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2377440"/>
            <a:ext cx="3429000" cy="3931920"/>
          </a:xfrm>
          <a:prstGeom prst="roundRect">
            <a:avLst/>
          </a:prstGeom>
          <a:solidFill>
            <a:srgbClr val="5B1021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256032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🏛️ Institutional Excellence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• Seamless compliance with NAAC / UGC guidelines.</a:t>
            </a:r>
            <a:br/>
            <a:r>
              <a:t>• Data-driven executive policy insights for Deans.</a:t>
            </a:r>
            <a:br/>
            <a:r>
              <a:t>• Secure, scalable, and cloud-ready infrastructure.</a:t>
            </a:r>
            <a:br/>
            <a:r>
              <a:t>• Built with pride for CSJMU academic community.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